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45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Cover. Explain that the slide deck contains only architecture and the three live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Click to the next slide to reveal the retrieval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top-two gap is retrieval evidence, not a probability. Click again to reveal the three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external model cannot turn an uncertain case into a confirmed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demo/cases/A_q029.jpg in the browser. Show the source image, record ID and supported catalog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demo/cases/B_q077.jpg in the browser. Show alternatives as possibilities. The API description, if available, describes only the photo.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demo/cases/C_q092.jpg in the browser. Show no shoe candidates and no remote image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6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rb">
            <a:extLst>
              <a:ext uri="{FF2B5EF4-FFF2-40B4-BE49-F238E27FC236}">
                <a16:creationId xmlns:a16="http://schemas.microsoft.com/office/drawing/2014/main" id="{075CF956-3CB0-4574-AE2F-22A296A2472D}"/>
              </a:ext>
            </a:extLst>
          </p:cNvPr>
          <p:cNvSpPr>
            <a:spLocks noGrp="1"/>
          </p:cNvSpPr>
          <p:nvPr/>
        </p:nvSpPr>
        <p:spPr>
          <a:xfrm>
            <a:off x="9525000" y="-1619250"/>
            <a:ext cx="4476750" cy="4476750"/>
          </a:xfrm>
          <a:prstGeom prst="ellipse">
            <a:avLst/>
          </a:prstGeom>
          <a:solidFill>
            <a:srgbClr val="3D668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orb-small">
            <a:extLst>
              <a:ext uri="{FF2B5EF4-FFF2-40B4-BE49-F238E27FC236}">
                <a16:creationId xmlns:a16="http://schemas.microsoft.com/office/drawing/2014/main" id="{A474676B-1006-43E8-B079-BF71DE4FA90D}"/>
              </a:ext>
            </a:extLst>
          </p:cNvPr>
          <p:cNvSpPr>
            <a:spLocks noGrp="1"/>
          </p:cNvSpPr>
          <p:nvPr/>
        </p:nvSpPr>
        <p:spPr>
          <a:xfrm>
            <a:off x="10601325" y="495300"/>
            <a:ext cx="1200150" cy="1200150"/>
          </a:xfrm>
          <a:prstGeom prst="ellipse">
            <a:avLst/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rand">
            <a:extLst>
              <a:ext uri="{FF2B5EF4-FFF2-40B4-BE49-F238E27FC236}">
                <a16:creationId xmlns:a16="http://schemas.microsoft.com/office/drawing/2014/main" id="{515264F7-BBC3-4402-9C86-C9B449C7C426}"/>
              </a:ext>
            </a:extLst>
          </p:cNvPr>
          <p:cNvSpPr>
            <a:spLocks noGrp="1"/>
          </p:cNvSpPr>
          <p:nvPr/>
        </p:nvSpPr>
        <p:spPr>
          <a:xfrm>
            <a:off x="733425" y="2266950"/>
            <a:ext cx="10287000" cy="1133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60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ShoeLens</a:t>
            </a:r>
          </a:p>
        </p:txBody>
      </p:sp>
      <p:sp>
        <p:nvSpPr>
          <p:cNvPr id="5" name="tagline">
            <a:extLst>
              <a:ext uri="{FF2B5EF4-FFF2-40B4-BE49-F238E27FC236}">
                <a16:creationId xmlns:a16="http://schemas.microsoft.com/office/drawing/2014/main" id="{26011229-3763-46EE-9215-4F54A677EB21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0334625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0" i="1">
                <a:solidFill>
                  <a:srgbClr val="EDF4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 i="1">
                <a:solidFill>
                  <a:srgbClr val="EDF4F7"/>
                </a:solidFill>
                <a:latin typeface="Helvetica Neue"/>
                <a:ea typeface="Helvetica Neue"/>
                <a:cs typeface="Helvetica Neue"/>
              </a:rPr>
              <a:t>Photo search for a fixed footwear catalog</a:t>
            </a:r>
          </a:p>
        </p:txBody>
      </p:sp>
      <p:sp>
        <p:nvSpPr>
          <p:cNvPr id="6" name="rule">
            <a:extLst>
              <a:ext uri="{FF2B5EF4-FFF2-40B4-BE49-F238E27FC236}">
                <a16:creationId xmlns:a16="http://schemas.microsoft.com/office/drawing/2014/main" id="{D2FBA01F-C90A-4575-B3DF-F315552EEAE1}"/>
              </a:ext>
            </a:extLst>
          </p:cNvPr>
          <p:cNvSpPr>
            <a:spLocks noGrp="1"/>
          </p:cNvSpPr>
          <p:nvPr/>
        </p:nvSpPr>
        <p:spPr>
          <a:xfrm>
            <a:off x="781050" y="4171950"/>
            <a:ext cx="2190750" cy="47625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cope">
            <a:extLst>
              <a:ext uri="{FF2B5EF4-FFF2-40B4-BE49-F238E27FC236}">
                <a16:creationId xmlns:a16="http://schemas.microsoft.com/office/drawing/2014/main" id="{E64AD56C-9D9C-430C-83AD-1E6D118DBFA9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10001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System architecture and three live test cases</a:t>
            </a: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D732D580-12F5-48AD-97D2-AE5E53653694}"/>
              </a:ext>
            </a:extLst>
          </p:cNvPr>
          <p:cNvSpPr>
            <a:spLocks noGrp="1"/>
          </p:cNvSpPr>
          <p:nvPr/>
        </p:nvSpPr>
        <p:spPr>
          <a:xfrm>
            <a:off x="762000" y="6029325"/>
            <a:ext cx="10287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425" b="0" i="0">
                <a:solidFill>
                  <a:srgbClr val="BFD3D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BFD3DC"/>
                </a:solidFill>
                <a:latin typeface="Helvetica Neue"/>
                <a:ea typeface="Helvetica Neue"/>
                <a:cs typeface="Helvetica Neue"/>
              </a:rPr>
              <a:t>Fan Yanxi  ·  PE6201  ·  End-of-course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5ABB42-0770-86C0-B393-80A874EED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3032" y="495300"/>
            <a:ext cx="1096736" cy="109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61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">
            <a:extLst>
              <a:ext uri="{FF2B5EF4-FFF2-40B4-BE49-F238E27FC236}">
                <a16:creationId xmlns:a16="http://schemas.microsoft.com/office/drawing/2014/main" id="{39223EF9-5277-40A7-8A4B-62BB75BC980F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The architecture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A9826D8-5362-4269-BC36-B58C5D977DC4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Stage 1 — From photo to local service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C0391EF2-3791-49E8-9C8E-5EF70A11A322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2089205-E5AE-4714-BA2C-2B61B521ACA5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2 / 7</a:t>
            </a:r>
          </a:p>
        </p:txBody>
      </p:sp>
      <p:sp>
        <p:nvSpPr>
          <p:cNvPr id="5" name="flow-back">
            <a:extLst>
              <a:ext uri="{FF2B5EF4-FFF2-40B4-BE49-F238E27FC236}">
                <a16:creationId xmlns:a16="http://schemas.microsoft.com/office/drawing/2014/main" id="{63972C1F-328F-4DD7-BD3C-2054601DF5E0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58550" cy="2952750"/>
          </a:xfrm>
          <a:prstGeom prst="roundRect">
            <a:avLst>
              <a:gd name="adj" fmla="val 2581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0">
            <a:extLst>
              <a:ext uri="{FF2B5EF4-FFF2-40B4-BE49-F238E27FC236}">
                <a16:creationId xmlns:a16="http://schemas.microsoft.com/office/drawing/2014/main" id="{8FE77C0C-AB64-4018-816A-4EAA93B10B91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ar0">
            <a:extLst>
              <a:ext uri="{FF2B5EF4-FFF2-40B4-BE49-F238E27FC236}">
                <a16:creationId xmlns:a16="http://schemas.microsoft.com/office/drawing/2014/main" id="{D5C6CF19-EE24-4FB5-A275-AE17FA489381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2381250" cy="76200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0">
            <a:extLst>
              <a:ext uri="{FF2B5EF4-FFF2-40B4-BE49-F238E27FC236}">
                <a16:creationId xmlns:a16="http://schemas.microsoft.com/office/drawing/2014/main" id="{EBF44837-0A20-4FF7-AB08-FE5372EB8703}"/>
              </a:ext>
            </a:extLst>
          </p:cNvPr>
          <p:cNvSpPr>
            <a:spLocks noGrp="1"/>
          </p:cNvSpPr>
          <p:nvPr/>
        </p:nvSpPr>
        <p:spPr>
          <a:xfrm>
            <a:off x="9048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PHOTO</a:t>
            </a:r>
          </a:p>
        </p:txBody>
      </p:sp>
      <p:sp>
        <p:nvSpPr>
          <p:cNvPr id="9" name="name0">
            <a:extLst>
              <a:ext uri="{FF2B5EF4-FFF2-40B4-BE49-F238E27FC236}">
                <a16:creationId xmlns:a16="http://schemas.microsoft.com/office/drawing/2014/main" id="{060FC250-A1B5-4F78-976C-EB4466460B22}"/>
              </a:ext>
            </a:extLst>
          </p:cNvPr>
          <p:cNvSpPr>
            <a:spLocks noGrp="1"/>
          </p:cNvSpPr>
          <p:nvPr/>
        </p:nvSpPr>
        <p:spPr>
          <a:xfrm>
            <a:off x="9048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React upload</a:t>
            </a:r>
          </a:p>
        </p:txBody>
      </p:sp>
      <p:sp>
        <p:nvSpPr>
          <p:cNvPr id="10" name="detail0">
            <a:extLst>
              <a:ext uri="{FF2B5EF4-FFF2-40B4-BE49-F238E27FC236}">
                <a16:creationId xmlns:a16="http://schemas.microsoft.com/office/drawing/2014/main" id="{A06314DC-55C0-4E51-87DE-233147E2ADC7}"/>
              </a:ext>
            </a:extLst>
          </p:cNvPr>
          <p:cNvSpPr>
            <a:spLocks noGrp="1"/>
          </p:cNvSpPr>
          <p:nvPr/>
        </p:nvSpPr>
        <p:spPr>
          <a:xfrm>
            <a:off x="9048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JPG / PNG / WebP</a:t>
            </a:r>
          </a:p>
        </p:txBody>
      </p:sp>
      <p:sp>
        <p:nvSpPr>
          <p:cNvPr id="11" name="block1">
            <a:extLst>
              <a:ext uri="{FF2B5EF4-FFF2-40B4-BE49-F238E27FC236}">
                <a16:creationId xmlns:a16="http://schemas.microsoft.com/office/drawing/2014/main" id="{7A2313AE-8C4A-49FF-9320-6D7FD573634C}"/>
              </a:ext>
            </a:extLst>
          </p:cNvPr>
          <p:cNvSpPr>
            <a:spLocks noGrp="1"/>
          </p:cNvSpPr>
          <p:nvPr/>
        </p:nvSpPr>
        <p:spPr>
          <a:xfrm>
            <a:off x="34385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r1">
            <a:extLst>
              <a:ext uri="{FF2B5EF4-FFF2-40B4-BE49-F238E27FC236}">
                <a16:creationId xmlns:a16="http://schemas.microsoft.com/office/drawing/2014/main" id="{ABACDEBC-56C4-4DB5-B7EC-E4F7437F0650}"/>
              </a:ext>
            </a:extLst>
          </p:cNvPr>
          <p:cNvSpPr>
            <a:spLocks noGrp="1"/>
          </p:cNvSpPr>
          <p:nvPr/>
        </p:nvSpPr>
        <p:spPr>
          <a:xfrm>
            <a:off x="3438525" y="2419350"/>
            <a:ext cx="2381250" cy="76200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de1">
            <a:extLst>
              <a:ext uri="{FF2B5EF4-FFF2-40B4-BE49-F238E27FC236}">
                <a16:creationId xmlns:a16="http://schemas.microsoft.com/office/drawing/2014/main" id="{C67E514B-D362-4EC0-BB9E-FD457F67F0DF}"/>
              </a:ext>
            </a:extLst>
          </p:cNvPr>
          <p:cNvSpPr>
            <a:spLocks noGrp="1"/>
          </p:cNvSpPr>
          <p:nvPr/>
        </p:nvSpPr>
        <p:spPr>
          <a:xfrm>
            <a:off x="36099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4" name="name1">
            <a:extLst>
              <a:ext uri="{FF2B5EF4-FFF2-40B4-BE49-F238E27FC236}">
                <a16:creationId xmlns:a16="http://schemas.microsoft.com/office/drawing/2014/main" id="{F0B0E25F-D2E0-4304-B80C-DA183F872A50}"/>
              </a:ext>
            </a:extLst>
          </p:cNvPr>
          <p:cNvSpPr>
            <a:spLocks noGrp="1"/>
          </p:cNvSpPr>
          <p:nvPr/>
        </p:nvSpPr>
        <p:spPr>
          <a:xfrm>
            <a:off x="36099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Python service</a:t>
            </a:r>
          </a:p>
        </p:txBody>
      </p:sp>
      <p:sp>
        <p:nvSpPr>
          <p:cNvPr id="15" name="detail1">
            <a:extLst>
              <a:ext uri="{FF2B5EF4-FFF2-40B4-BE49-F238E27FC236}">
                <a16:creationId xmlns:a16="http://schemas.microsoft.com/office/drawing/2014/main" id="{FBB79201-2A06-4775-8AD3-C155D8321BD5}"/>
              </a:ext>
            </a:extLst>
          </p:cNvPr>
          <p:cNvSpPr>
            <a:spLocks noGrp="1"/>
          </p:cNvSpPr>
          <p:nvPr/>
        </p:nvSpPr>
        <p:spPr>
          <a:xfrm>
            <a:off x="36099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Validation + routing</a:t>
            </a:r>
          </a:p>
        </p:txBody>
      </p:sp>
      <p:sp>
        <p:nvSpPr>
          <p:cNvPr id="16" name="arrow1">
            <a:extLst>
              <a:ext uri="{FF2B5EF4-FFF2-40B4-BE49-F238E27FC236}">
                <a16:creationId xmlns:a16="http://schemas.microsoft.com/office/drawing/2014/main" id="{F5988585-511C-4E69-AB86-FD92AE72DEED}"/>
              </a:ext>
            </a:extLst>
          </p:cNvPr>
          <p:cNvSpPr>
            <a:spLocks noGrp="1"/>
          </p:cNvSpPr>
          <p:nvPr/>
        </p:nvSpPr>
        <p:spPr>
          <a:xfrm>
            <a:off x="3105150" y="3028950"/>
            <a:ext cx="38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830"/>
          </a:bodyPr>
          <a:lstStyle/>
          <a:p>
            <a:pPr>
              <a:def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bottom">
            <a:extLst>
              <a:ext uri="{FF2B5EF4-FFF2-40B4-BE49-F238E27FC236}">
                <a16:creationId xmlns:a16="http://schemas.microsoft.com/office/drawing/2014/main" id="{78CCBC58-3ADD-4EC5-B35C-4CE33989E89A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10572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The photo enters a local Python API. No product identity has been claimed yet.</a:t>
            </a:r>
          </a:p>
        </p:txBody>
      </p:sp>
    </p:spTree>
    <p:extLst>
      <p:ext uri="{BB962C8B-B14F-4D97-AF65-F5344CB8AC3E}">
        <p14:creationId xmlns:p14="http://schemas.microsoft.com/office/powerpoint/2010/main" val="1825740858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487E47B4-85BF-4E29-A004-D6F9BFC11578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The architecture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9F33F9A-0833-439E-B9C4-F8DE5DDF22E7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Stage 2 — Find and check visual candidates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3C1F832E-6AEB-4382-A622-E1FA002CA7CC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84A895F-766B-4430-9E53-CD0A91D67E7E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3 / 7</a:t>
            </a:r>
          </a:p>
        </p:txBody>
      </p:sp>
      <p:sp>
        <p:nvSpPr>
          <p:cNvPr id="5" name="flow-back">
            <a:extLst>
              <a:ext uri="{FF2B5EF4-FFF2-40B4-BE49-F238E27FC236}">
                <a16:creationId xmlns:a16="http://schemas.microsoft.com/office/drawing/2014/main" id="{5D08A68E-99FC-4D12-AF7B-5E33FB24A87C}"/>
              </a:ext>
            </a:extLst>
          </p:cNvPr>
          <p:cNvSpPr>
            <a:spLocks noGrp="1"/>
          </p:cNvSpPr>
          <p:nvPr/>
        </p:nvSpPr>
        <p:spPr>
          <a:xfrm>
            <a:off x="457200" y="1809750"/>
            <a:ext cx="11258550" cy="2952750"/>
          </a:xfrm>
          <a:prstGeom prst="roundRect">
            <a:avLst>
              <a:gd name="adj" fmla="val 2581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block0">
            <a:extLst>
              <a:ext uri="{FF2B5EF4-FFF2-40B4-BE49-F238E27FC236}">
                <a16:creationId xmlns:a16="http://schemas.microsoft.com/office/drawing/2014/main" id="{847B3524-032B-4D6F-93A3-5AB468F790C1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bar0">
            <a:extLst>
              <a:ext uri="{FF2B5EF4-FFF2-40B4-BE49-F238E27FC236}">
                <a16:creationId xmlns:a16="http://schemas.microsoft.com/office/drawing/2014/main" id="{2E41B277-CE92-4A0E-BBB9-A9819611A7FD}"/>
              </a:ext>
            </a:extLst>
          </p:cNvPr>
          <p:cNvSpPr>
            <a:spLocks noGrp="1"/>
          </p:cNvSpPr>
          <p:nvPr/>
        </p:nvSpPr>
        <p:spPr>
          <a:xfrm>
            <a:off x="733425" y="2419350"/>
            <a:ext cx="2381250" cy="76200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code0">
            <a:extLst>
              <a:ext uri="{FF2B5EF4-FFF2-40B4-BE49-F238E27FC236}">
                <a16:creationId xmlns:a16="http://schemas.microsoft.com/office/drawing/2014/main" id="{A4EBE41A-8D6A-49CE-827F-371FF2666EEF}"/>
              </a:ext>
            </a:extLst>
          </p:cNvPr>
          <p:cNvSpPr>
            <a:spLocks noGrp="1"/>
          </p:cNvSpPr>
          <p:nvPr/>
        </p:nvSpPr>
        <p:spPr>
          <a:xfrm>
            <a:off x="9048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PHOTO</a:t>
            </a:r>
          </a:p>
        </p:txBody>
      </p:sp>
      <p:sp>
        <p:nvSpPr>
          <p:cNvPr id="9" name="name0">
            <a:extLst>
              <a:ext uri="{FF2B5EF4-FFF2-40B4-BE49-F238E27FC236}">
                <a16:creationId xmlns:a16="http://schemas.microsoft.com/office/drawing/2014/main" id="{58ACDD85-6131-4F34-8A6D-1FB1B0A15CF2}"/>
              </a:ext>
            </a:extLst>
          </p:cNvPr>
          <p:cNvSpPr>
            <a:spLocks noGrp="1"/>
          </p:cNvSpPr>
          <p:nvPr/>
        </p:nvSpPr>
        <p:spPr>
          <a:xfrm>
            <a:off x="9048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React upload</a:t>
            </a:r>
          </a:p>
        </p:txBody>
      </p:sp>
      <p:sp>
        <p:nvSpPr>
          <p:cNvPr id="10" name="detail0">
            <a:extLst>
              <a:ext uri="{FF2B5EF4-FFF2-40B4-BE49-F238E27FC236}">
                <a16:creationId xmlns:a16="http://schemas.microsoft.com/office/drawing/2014/main" id="{48521535-67E4-4D59-B871-C29A71EF9232}"/>
              </a:ext>
            </a:extLst>
          </p:cNvPr>
          <p:cNvSpPr>
            <a:spLocks noGrp="1"/>
          </p:cNvSpPr>
          <p:nvPr/>
        </p:nvSpPr>
        <p:spPr>
          <a:xfrm>
            <a:off x="9048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JPG / PNG / WebP</a:t>
            </a:r>
          </a:p>
        </p:txBody>
      </p:sp>
      <p:sp>
        <p:nvSpPr>
          <p:cNvPr id="11" name="block1">
            <a:extLst>
              <a:ext uri="{FF2B5EF4-FFF2-40B4-BE49-F238E27FC236}">
                <a16:creationId xmlns:a16="http://schemas.microsoft.com/office/drawing/2014/main" id="{D6604391-40EB-4878-9B94-6A701209FDB6}"/>
              </a:ext>
            </a:extLst>
          </p:cNvPr>
          <p:cNvSpPr>
            <a:spLocks noGrp="1"/>
          </p:cNvSpPr>
          <p:nvPr/>
        </p:nvSpPr>
        <p:spPr>
          <a:xfrm>
            <a:off x="34385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r1">
            <a:extLst>
              <a:ext uri="{FF2B5EF4-FFF2-40B4-BE49-F238E27FC236}">
                <a16:creationId xmlns:a16="http://schemas.microsoft.com/office/drawing/2014/main" id="{3F4FECFD-6594-4D11-BF1D-A3C001392549}"/>
              </a:ext>
            </a:extLst>
          </p:cNvPr>
          <p:cNvSpPr>
            <a:spLocks noGrp="1"/>
          </p:cNvSpPr>
          <p:nvPr/>
        </p:nvSpPr>
        <p:spPr>
          <a:xfrm>
            <a:off x="3438525" y="2419350"/>
            <a:ext cx="2381250" cy="76200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code1">
            <a:extLst>
              <a:ext uri="{FF2B5EF4-FFF2-40B4-BE49-F238E27FC236}">
                <a16:creationId xmlns:a16="http://schemas.microsoft.com/office/drawing/2014/main" id="{0F644097-C681-4725-A509-A2BC7FD815C4}"/>
              </a:ext>
            </a:extLst>
          </p:cNvPr>
          <p:cNvSpPr>
            <a:spLocks noGrp="1"/>
          </p:cNvSpPr>
          <p:nvPr/>
        </p:nvSpPr>
        <p:spPr>
          <a:xfrm>
            <a:off x="36099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API</a:t>
            </a:r>
          </a:p>
        </p:txBody>
      </p:sp>
      <p:sp>
        <p:nvSpPr>
          <p:cNvPr id="14" name="name1">
            <a:extLst>
              <a:ext uri="{FF2B5EF4-FFF2-40B4-BE49-F238E27FC236}">
                <a16:creationId xmlns:a16="http://schemas.microsoft.com/office/drawing/2014/main" id="{F871CFB8-E721-4358-9482-3061474A117A}"/>
              </a:ext>
            </a:extLst>
          </p:cNvPr>
          <p:cNvSpPr>
            <a:spLocks noGrp="1"/>
          </p:cNvSpPr>
          <p:nvPr/>
        </p:nvSpPr>
        <p:spPr>
          <a:xfrm>
            <a:off x="36099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Python service</a:t>
            </a:r>
          </a:p>
        </p:txBody>
      </p:sp>
      <p:sp>
        <p:nvSpPr>
          <p:cNvPr id="15" name="detail1">
            <a:extLst>
              <a:ext uri="{FF2B5EF4-FFF2-40B4-BE49-F238E27FC236}">
                <a16:creationId xmlns:a16="http://schemas.microsoft.com/office/drawing/2014/main" id="{6F72A36E-E024-4AB2-AAC0-F9178977A25F}"/>
              </a:ext>
            </a:extLst>
          </p:cNvPr>
          <p:cNvSpPr>
            <a:spLocks noGrp="1"/>
          </p:cNvSpPr>
          <p:nvPr/>
        </p:nvSpPr>
        <p:spPr>
          <a:xfrm>
            <a:off x="36099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Validation + routing</a:t>
            </a:r>
          </a:p>
        </p:txBody>
      </p:sp>
      <p:sp>
        <p:nvSpPr>
          <p:cNvPr id="16" name="arrow1">
            <a:extLst>
              <a:ext uri="{FF2B5EF4-FFF2-40B4-BE49-F238E27FC236}">
                <a16:creationId xmlns:a16="http://schemas.microsoft.com/office/drawing/2014/main" id="{AEFB7507-7C2C-4ABB-951D-0700B35A49D9}"/>
              </a:ext>
            </a:extLst>
          </p:cNvPr>
          <p:cNvSpPr>
            <a:spLocks noGrp="1"/>
          </p:cNvSpPr>
          <p:nvPr/>
        </p:nvSpPr>
        <p:spPr>
          <a:xfrm>
            <a:off x="3105150" y="3028950"/>
            <a:ext cx="38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830"/>
          </a:bodyPr>
          <a:lstStyle/>
          <a:p>
            <a:pPr>
              <a:def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block2">
            <a:extLst>
              <a:ext uri="{FF2B5EF4-FFF2-40B4-BE49-F238E27FC236}">
                <a16:creationId xmlns:a16="http://schemas.microsoft.com/office/drawing/2014/main" id="{F3039104-D275-4EAC-94ED-488E034F9A2B}"/>
              </a:ext>
            </a:extLst>
          </p:cNvPr>
          <p:cNvSpPr>
            <a:spLocks noGrp="1"/>
          </p:cNvSpPr>
          <p:nvPr/>
        </p:nvSpPr>
        <p:spPr>
          <a:xfrm>
            <a:off x="61436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ar2">
            <a:extLst>
              <a:ext uri="{FF2B5EF4-FFF2-40B4-BE49-F238E27FC236}">
                <a16:creationId xmlns:a16="http://schemas.microsoft.com/office/drawing/2014/main" id="{DAC2E1D7-019C-4A07-9CE7-CF650C006071}"/>
              </a:ext>
            </a:extLst>
          </p:cNvPr>
          <p:cNvSpPr>
            <a:spLocks noGrp="1"/>
          </p:cNvSpPr>
          <p:nvPr/>
        </p:nvSpPr>
        <p:spPr>
          <a:xfrm>
            <a:off x="6143625" y="2419350"/>
            <a:ext cx="2381250" cy="76200"/>
          </a:xfrm>
          <a:prstGeom prst="rect">
            <a:avLst/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code2">
            <a:extLst>
              <a:ext uri="{FF2B5EF4-FFF2-40B4-BE49-F238E27FC236}">
                <a16:creationId xmlns:a16="http://schemas.microsoft.com/office/drawing/2014/main" id="{55BC2F29-4752-4455-8BE9-C4207BD44689}"/>
              </a:ext>
            </a:extLst>
          </p:cNvPr>
          <p:cNvSpPr>
            <a:spLocks noGrp="1"/>
          </p:cNvSpPr>
          <p:nvPr/>
        </p:nvSpPr>
        <p:spPr>
          <a:xfrm>
            <a:off x="63150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VISION</a:t>
            </a:r>
          </a:p>
        </p:txBody>
      </p:sp>
      <p:sp>
        <p:nvSpPr>
          <p:cNvPr id="20" name="name2">
            <a:extLst>
              <a:ext uri="{FF2B5EF4-FFF2-40B4-BE49-F238E27FC236}">
                <a16:creationId xmlns:a16="http://schemas.microsoft.com/office/drawing/2014/main" id="{1B13719B-1204-4E99-BCC2-335DBCA8D710}"/>
              </a:ext>
            </a:extLst>
          </p:cNvPr>
          <p:cNvSpPr>
            <a:spLocks noGrp="1"/>
          </p:cNvSpPr>
          <p:nvPr/>
        </p:nvSpPr>
        <p:spPr>
          <a:xfrm>
            <a:off x="63150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CLIP + SIFT</a:t>
            </a:r>
          </a:p>
        </p:txBody>
      </p:sp>
      <p:sp>
        <p:nvSpPr>
          <p:cNvPr id="21" name="detail2">
            <a:extLst>
              <a:ext uri="{FF2B5EF4-FFF2-40B4-BE49-F238E27FC236}">
                <a16:creationId xmlns:a16="http://schemas.microsoft.com/office/drawing/2014/main" id="{E618994B-702D-4606-BBCA-E2B0D69CB790}"/>
              </a:ext>
            </a:extLst>
          </p:cNvPr>
          <p:cNvSpPr>
            <a:spLocks noGrp="1"/>
          </p:cNvSpPr>
          <p:nvPr/>
        </p:nvSpPr>
        <p:spPr>
          <a:xfrm>
            <a:off x="63150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Top-100 + geometry</a:t>
            </a:r>
          </a:p>
        </p:txBody>
      </p:sp>
      <p:sp>
        <p:nvSpPr>
          <p:cNvPr id="22" name="arrow2">
            <a:extLst>
              <a:ext uri="{FF2B5EF4-FFF2-40B4-BE49-F238E27FC236}">
                <a16:creationId xmlns:a16="http://schemas.microsoft.com/office/drawing/2014/main" id="{3000A4BF-D52A-42D3-BB55-6882D28EFEAA}"/>
              </a:ext>
            </a:extLst>
          </p:cNvPr>
          <p:cNvSpPr>
            <a:spLocks noGrp="1"/>
          </p:cNvSpPr>
          <p:nvPr/>
        </p:nvSpPr>
        <p:spPr>
          <a:xfrm>
            <a:off x="5810250" y="3028950"/>
            <a:ext cx="38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830"/>
          </a:bodyPr>
          <a:lstStyle/>
          <a:p>
            <a:pPr>
              <a:def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3" name="block3">
            <a:extLst>
              <a:ext uri="{FF2B5EF4-FFF2-40B4-BE49-F238E27FC236}">
                <a16:creationId xmlns:a16="http://schemas.microsoft.com/office/drawing/2014/main" id="{EAF48013-12A1-4096-B51B-CB4070418E86}"/>
              </a:ext>
            </a:extLst>
          </p:cNvPr>
          <p:cNvSpPr>
            <a:spLocks noGrp="1"/>
          </p:cNvSpPr>
          <p:nvPr/>
        </p:nvSpPr>
        <p:spPr>
          <a:xfrm>
            <a:off x="8848725" y="2419350"/>
            <a:ext cx="2381250" cy="1552575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ar3">
            <a:extLst>
              <a:ext uri="{FF2B5EF4-FFF2-40B4-BE49-F238E27FC236}">
                <a16:creationId xmlns:a16="http://schemas.microsoft.com/office/drawing/2014/main" id="{F2CE2236-532F-4733-A5C5-3E48702742A6}"/>
              </a:ext>
            </a:extLst>
          </p:cNvPr>
          <p:cNvSpPr>
            <a:spLocks noGrp="1"/>
          </p:cNvSpPr>
          <p:nvPr/>
        </p:nvSpPr>
        <p:spPr>
          <a:xfrm>
            <a:off x="8848725" y="2419350"/>
            <a:ext cx="2381250" cy="76200"/>
          </a:xfrm>
          <a:prstGeom prst="rect">
            <a:avLst/>
          </a:prstGeom>
          <a:solidFill>
            <a:srgbClr val="B58A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code3">
            <a:extLst>
              <a:ext uri="{FF2B5EF4-FFF2-40B4-BE49-F238E27FC236}">
                <a16:creationId xmlns:a16="http://schemas.microsoft.com/office/drawing/2014/main" id="{8971C4F7-FDBD-4830-8597-C7C83D409164}"/>
              </a:ext>
            </a:extLst>
          </p:cNvPr>
          <p:cNvSpPr>
            <a:spLocks noGrp="1"/>
          </p:cNvSpPr>
          <p:nvPr/>
        </p:nvSpPr>
        <p:spPr>
          <a:xfrm>
            <a:off x="9020175" y="2619375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696" lnSpcReduction="10000"/>
          </a:bodyPr>
          <a:lstStyle/>
          <a:p>
            <a:pPr>
              <a:def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26" name="name3">
            <a:extLst>
              <a:ext uri="{FF2B5EF4-FFF2-40B4-BE49-F238E27FC236}">
                <a16:creationId xmlns:a16="http://schemas.microsoft.com/office/drawing/2014/main" id="{4ECE7F4F-271E-4192-A294-6802BD5C4A86}"/>
              </a:ext>
            </a:extLst>
          </p:cNvPr>
          <p:cNvSpPr>
            <a:spLocks noGrp="1"/>
          </p:cNvSpPr>
          <p:nvPr/>
        </p:nvSpPr>
        <p:spPr>
          <a:xfrm>
            <a:off x="9020175" y="2990850"/>
            <a:ext cx="20764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Decision</a:t>
            </a:r>
          </a:p>
        </p:txBody>
      </p:sp>
      <p:sp>
        <p:nvSpPr>
          <p:cNvPr id="27" name="detail3">
            <a:extLst>
              <a:ext uri="{FF2B5EF4-FFF2-40B4-BE49-F238E27FC236}">
                <a16:creationId xmlns:a16="http://schemas.microsoft.com/office/drawing/2014/main" id="{39921947-6735-4FBA-9CF6-6BD3F0D1860B}"/>
              </a:ext>
            </a:extLst>
          </p:cNvPr>
          <p:cNvSpPr>
            <a:spLocks noGrp="1"/>
          </p:cNvSpPr>
          <p:nvPr/>
        </p:nvSpPr>
        <p:spPr>
          <a:xfrm>
            <a:off x="9020175" y="3457575"/>
            <a:ext cx="20955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Score + top-two gap</a:t>
            </a:r>
          </a:p>
        </p:txBody>
      </p:sp>
      <p:sp>
        <p:nvSpPr>
          <p:cNvPr id="28" name="arrow3">
            <a:extLst>
              <a:ext uri="{FF2B5EF4-FFF2-40B4-BE49-F238E27FC236}">
                <a16:creationId xmlns:a16="http://schemas.microsoft.com/office/drawing/2014/main" id="{63DF29BD-05DD-4D65-96BD-E738024F05F9}"/>
              </a:ext>
            </a:extLst>
          </p:cNvPr>
          <p:cNvSpPr>
            <a:spLocks noGrp="1"/>
          </p:cNvSpPr>
          <p:nvPr/>
        </p:nvSpPr>
        <p:spPr>
          <a:xfrm>
            <a:off x="8515350" y="3028950"/>
            <a:ext cx="381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830"/>
          </a:bodyPr>
          <a:lstStyle/>
          <a:p>
            <a:pPr>
              <a:def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9" name="bottom">
            <a:extLst>
              <a:ext uri="{FF2B5EF4-FFF2-40B4-BE49-F238E27FC236}">
                <a16:creationId xmlns:a16="http://schemas.microsoft.com/office/drawing/2014/main" id="{65F8E1F4-E5CD-4590-B713-ED1116685761}"/>
              </a:ext>
            </a:extLst>
          </p:cNvPr>
          <p:cNvSpPr>
            <a:spLocks noGrp="1"/>
          </p:cNvSpPr>
          <p:nvPr/>
        </p:nvSpPr>
        <p:spPr>
          <a:xfrm>
            <a:off x="666750" y="5086350"/>
            <a:ext cx="10572750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025" b="0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CLIP ranks 2,000 catalog shoes. SIFT checks local detail before the gate decides.</a:t>
            </a:r>
          </a:p>
        </p:txBody>
      </p:sp>
    </p:spTree>
    <p:extLst>
      <p:ext uri="{BB962C8B-B14F-4D97-AF65-F5344CB8AC3E}">
        <p14:creationId xmlns:p14="http://schemas.microsoft.com/office/powerpoint/2010/main" val="1213277448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BF340E00-4BEB-4C54-857E-A3E97DBA3C55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The architecture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91C11EC-EE30-4140-874D-EB0E28ED061E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Stage 3 — The response depends on the evidence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EB70B47C-FAE0-4F89-B131-E7CA10980A51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0B4484E0-848E-44B6-B573-B168156709E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4 / 7</a:t>
            </a:r>
          </a:p>
        </p:txBody>
      </p:sp>
      <p:sp>
        <p:nvSpPr>
          <p:cNvPr id="5" name="branch-back">
            <a:extLst>
              <a:ext uri="{FF2B5EF4-FFF2-40B4-BE49-F238E27FC236}">
                <a16:creationId xmlns:a16="http://schemas.microsoft.com/office/drawing/2014/main" id="{174F2975-B038-44C2-8796-66E2F60010AC}"/>
              </a:ext>
            </a:extLst>
          </p:cNvPr>
          <p:cNvSpPr>
            <a:spLocks noGrp="1"/>
          </p:cNvSpPr>
          <p:nvPr/>
        </p:nvSpPr>
        <p:spPr>
          <a:xfrm>
            <a:off x="457200" y="1685925"/>
            <a:ext cx="11258550" cy="3905250"/>
          </a:xfrm>
          <a:prstGeom prst="roundRect">
            <a:avLst>
              <a:gd name="adj" fmla="val 1951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gate-tag">
            <a:extLst>
              <a:ext uri="{FF2B5EF4-FFF2-40B4-BE49-F238E27FC236}">
                <a16:creationId xmlns:a16="http://schemas.microsoft.com/office/drawing/2014/main" id="{882656D0-136A-4027-A93D-EDADA6FFB31E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10763250" cy="590550"/>
          </a:xfrm>
          <a:prstGeom prst="roundRect">
            <a:avLst>
              <a:gd name="adj" fmla="val 12903"/>
            </a:avLst>
          </a:prstGeom>
          <a:solidFill>
            <a:srgbClr val="6E98A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gate-label">
            <a:extLst>
              <a:ext uri="{FF2B5EF4-FFF2-40B4-BE49-F238E27FC236}">
                <a16:creationId xmlns:a16="http://schemas.microsoft.com/office/drawing/2014/main" id="{340B2572-175D-4F15-AF11-A36CC2C63E38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101917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212" lnSpcReduction="10000"/>
          </a:bodyPr>
          <a:lstStyle/>
          <a:p>
            <a:pPr>
              <a:def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CALIBRATED SCORE + TOP-TWO GAP</a:t>
            </a:r>
          </a:p>
        </p:txBody>
      </p:sp>
      <p:sp>
        <p:nvSpPr>
          <p:cNvPr id="8" name="branch0">
            <a:extLst>
              <a:ext uri="{FF2B5EF4-FFF2-40B4-BE49-F238E27FC236}">
                <a16:creationId xmlns:a16="http://schemas.microsoft.com/office/drawing/2014/main" id="{74A5D7CC-55EB-456E-A6C2-FE6CF132F747}"/>
              </a:ext>
            </a:extLst>
          </p:cNvPr>
          <p:cNvSpPr>
            <a:spLocks noGrp="1"/>
          </p:cNvSpPr>
          <p:nvPr/>
        </p:nvSpPr>
        <p:spPr>
          <a:xfrm>
            <a:off x="714375" y="2990850"/>
            <a:ext cx="33337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branch-mark0">
            <a:extLst>
              <a:ext uri="{FF2B5EF4-FFF2-40B4-BE49-F238E27FC236}">
                <a16:creationId xmlns:a16="http://schemas.microsoft.com/office/drawing/2014/main" id="{D1EB2493-CD4C-49F9-BF6C-270C3CF25566}"/>
              </a:ext>
            </a:extLst>
          </p:cNvPr>
          <p:cNvSpPr>
            <a:spLocks noGrp="1"/>
          </p:cNvSpPr>
          <p:nvPr/>
        </p:nvSpPr>
        <p:spPr>
          <a:xfrm>
            <a:off x="714375" y="2990850"/>
            <a:ext cx="95250" cy="1943100"/>
          </a:xfrm>
          <a:prstGeom prst="rect">
            <a:avLst/>
          </a:prstGeom>
          <a:solidFill>
            <a:srgbClr val="4F9D9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ranch-code0">
            <a:extLst>
              <a:ext uri="{FF2B5EF4-FFF2-40B4-BE49-F238E27FC236}">
                <a16:creationId xmlns:a16="http://schemas.microsoft.com/office/drawing/2014/main" id="{F978B117-E89B-40C8-8FE9-170282DA5347}"/>
              </a:ext>
            </a:extLst>
          </p:cNvPr>
          <p:cNvSpPr>
            <a:spLocks noGrp="1"/>
          </p:cNvSpPr>
          <p:nvPr/>
        </p:nvSpPr>
        <p:spPr>
          <a:xfrm>
            <a:off x="952500" y="31051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33" lnSpcReduction="10000"/>
          </a:bodyPr>
          <a:lstStyle/>
          <a:p>
            <a:pPr>
              <a:defRPr sz="3750" b="1" i="0">
                <a:solidFill>
                  <a:srgbClr val="4F9D95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4F9D95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" name="branch-name0">
            <a:extLst>
              <a:ext uri="{FF2B5EF4-FFF2-40B4-BE49-F238E27FC236}">
                <a16:creationId xmlns:a16="http://schemas.microsoft.com/office/drawing/2014/main" id="{571F2805-3F4E-4DC6-A0F5-5932F3EF6E75}"/>
              </a:ext>
            </a:extLst>
          </p:cNvPr>
          <p:cNvSpPr>
            <a:spLocks noGrp="1"/>
          </p:cNvSpPr>
          <p:nvPr/>
        </p:nvSpPr>
        <p:spPr>
          <a:xfrm>
            <a:off x="952500" y="3781425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Accepted match</a:t>
            </a:r>
          </a:p>
        </p:txBody>
      </p:sp>
      <p:sp>
        <p:nvSpPr>
          <p:cNvPr id="12" name="branch-body0">
            <a:extLst>
              <a:ext uri="{FF2B5EF4-FFF2-40B4-BE49-F238E27FC236}">
                <a16:creationId xmlns:a16="http://schemas.microsoft.com/office/drawing/2014/main" id="{57E417CA-A966-4CF9-861E-55CDE50545FC}"/>
              </a:ext>
            </a:extLst>
          </p:cNvPr>
          <p:cNvSpPr>
            <a:spLocks noGrp="1"/>
          </p:cNvSpPr>
          <p:nvPr/>
        </p:nvSpPr>
        <p:spPr>
          <a:xfrm>
            <a:off x="952500" y="42481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Source photo + catalog record</a:t>
            </a:r>
          </a:p>
        </p:txBody>
      </p:sp>
      <p:sp>
        <p:nvSpPr>
          <p:cNvPr id="13" name="branch1">
            <a:extLst>
              <a:ext uri="{FF2B5EF4-FFF2-40B4-BE49-F238E27FC236}">
                <a16:creationId xmlns:a16="http://schemas.microsoft.com/office/drawing/2014/main" id="{7E850529-802D-4E66-BE32-1D017EDEC722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3337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branch-mark1">
            <a:extLst>
              <a:ext uri="{FF2B5EF4-FFF2-40B4-BE49-F238E27FC236}">
                <a16:creationId xmlns:a16="http://schemas.microsoft.com/office/drawing/2014/main" id="{6C6964A7-88AD-4978-A1AA-E5F557D7E8AD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95250" cy="1943100"/>
          </a:xfrm>
          <a:prstGeom prst="rect">
            <a:avLst/>
          </a:prstGeom>
          <a:solidFill>
            <a:srgbClr val="B58A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ch-code1">
            <a:extLst>
              <a:ext uri="{FF2B5EF4-FFF2-40B4-BE49-F238E27FC236}">
                <a16:creationId xmlns:a16="http://schemas.microsoft.com/office/drawing/2014/main" id="{972F51B7-FDAD-4D37-BA9E-D70748F13FB6}"/>
              </a:ext>
            </a:extLst>
          </p:cNvPr>
          <p:cNvSpPr>
            <a:spLocks noGrp="1"/>
          </p:cNvSpPr>
          <p:nvPr/>
        </p:nvSpPr>
        <p:spPr>
          <a:xfrm>
            <a:off x="4543425" y="31051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33" lnSpcReduction="10000"/>
          </a:bodyPr>
          <a:lstStyle/>
          <a:p>
            <a:pPr>
              <a:defRPr sz="3750" b="1" i="0">
                <a:solidFill>
                  <a:srgbClr val="B58A54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B58A54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6" name="branch-name1">
            <a:extLst>
              <a:ext uri="{FF2B5EF4-FFF2-40B4-BE49-F238E27FC236}">
                <a16:creationId xmlns:a16="http://schemas.microsoft.com/office/drawing/2014/main" id="{CE2A451B-A211-4CBB-BBC1-88B9265B75DE}"/>
              </a:ext>
            </a:extLst>
          </p:cNvPr>
          <p:cNvSpPr>
            <a:spLocks noGrp="1"/>
          </p:cNvSpPr>
          <p:nvPr/>
        </p:nvSpPr>
        <p:spPr>
          <a:xfrm>
            <a:off x="4543425" y="3781425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Uncertain shoe</a:t>
            </a:r>
          </a:p>
        </p:txBody>
      </p:sp>
      <p:sp>
        <p:nvSpPr>
          <p:cNvPr id="17" name="branch-body1">
            <a:extLst>
              <a:ext uri="{FF2B5EF4-FFF2-40B4-BE49-F238E27FC236}">
                <a16:creationId xmlns:a16="http://schemas.microsoft.com/office/drawing/2014/main" id="{6CF5DD39-BC28-48AE-85AA-C74F5FCC726E}"/>
              </a:ext>
            </a:extLst>
          </p:cNvPr>
          <p:cNvSpPr>
            <a:spLocks noGrp="1"/>
          </p:cNvSpPr>
          <p:nvPr/>
        </p:nvSpPr>
        <p:spPr>
          <a:xfrm>
            <a:off x="4543425" y="42481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Alternatives + optional visual API</a:t>
            </a:r>
          </a:p>
        </p:txBody>
      </p:sp>
      <p:sp>
        <p:nvSpPr>
          <p:cNvPr id="18" name="branch2">
            <a:extLst>
              <a:ext uri="{FF2B5EF4-FFF2-40B4-BE49-F238E27FC236}">
                <a16:creationId xmlns:a16="http://schemas.microsoft.com/office/drawing/2014/main" id="{2E4660F1-DA82-4C7C-B2AD-94C469FD29F8}"/>
              </a:ext>
            </a:extLst>
          </p:cNvPr>
          <p:cNvSpPr>
            <a:spLocks noGrp="1"/>
          </p:cNvSpPr>
          <p:nvPr/>
        </p:nvSpPr>
        <p:spPr>
          <a:xfrm>
            <a:off x="7896225" y="2990850"/>
            <a:ext cx="3333750" cy="19431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solidFill>
              <a:srgbClr val="D8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ch-mark2">
            <a:extLst>
              <a:ext uri="{FF2B5EF4-FFF2-40B4-BE49-F238E27FC236}">
                <a16:creationId xmlns:a16="http://schemas.microsoft.com/office/drawing/2014/main" id="{CE00727A-9912-43A4-B735-6503B5FF2F12}"/>
              </a:ext>
            </a:extLst>
          </p:cNvPr>
          <p:cNvSpPr>
            <a:spLocks noGrp="1"/>
          </p:cNvSpPr>
          <p:nvPr/>
        </p:nvSpPr>
        <p:spPr>
          <a:xfrm>
            <a:off x="7896225" y="2990850"/>
            <a:ext cx="95250" cy="1943100"/>
          </a:xfrm>
          <a:prstGeom prst="rect">
            <a:avLst/>
          </a:prstGeom>
          <a:solidFill>
            <a:srgbClr val="3D7EA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ch-code2">
            <a:extLst>
              <a:ext uri="{FF2B5EF4-FFF2-40B4-BE49-F238E27FC236}">
                <a16:creationId xmlns:a16="http://schemas.microsoft.com/office/drawing/2014/main" id="{B8D7C817-509B-47C2-94FA-B09EA621E9FF}"/>
              </a:ext>
            </a:extLst>
          </p:cNvPr>
          <p:cNvSpPr>
            <a:spLocks noGrp="1"/>
          </p:cNvSpPr>
          <p:nvPr/>
        </p:nvSpPr>
        <p:spPr>
          <a:xfrm>
            <a:off x="8134350" y="3105150"/>
            <a:ext cx="666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333" lnSpcReduction="10000"/>
          </a:bodyPr>
          <a:lstStyle/>
          <a:p>
            <a:pPr>
              <a:defRPr sz="3750" b="1" i="0">
                <a:solidFill>
                  <a:srgbClr val="3D7EA0"/>
                </a:solidFill>
                <a:latin typeface="Georgia"/>
                <a:ea typeface="Georgia"/>
                <a:cs typeface="Georgia"/>
              </a:defRPr>
            </a:pPr>
            <a:r>
              <a:rPr sz="3750" b="1" i="0">
                <a:solidFill>
                  <a:srgbClr val="3D7EA0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21" name="branch-name2">
            <a:extLst>
              <a:ext uri="{FF2B5EF4-FFF2-40B4-BE49-F238E27FC236}">
                <a16:creationId xmlns:a16="http://schemas.microsoft.com/office/drawing/2014/main" id="{8AD74882-C6FC-4753-879D-3872D375309B}"/>
              </a:ext>
            </a:extLst>
          </p:cNvPr>
          <p:cNvSpPr>
            <a:spLocks noGrp="1"/>
          </p:cNvSpPr>
          <p:nvPr/>
        </p:nvSpPr>
        <p:spPr>
          <a:xfrm>
            <a:off x="8134350" y="3781425"/>
            <a:ext cx="2895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Non-footwear</a:t>
            </a:r>
          </a:p>
        </p:txBody>
      </p:sp>
      <p:sp>
        <p:nvSpPr>
          <p:cNvPr id="22" name="branch-body2">
            <a:extLst>
              <a:ext uri="{FF2B5EF4-FFF2-40B4-BE49-F238E27FC236}">
                <a16:creationId xmlns:a16="http://schemas.microsoft.com/office/drawing/2014/main" id="{06684D30-D0AD-480C-8C17-2817F849E0CA}"/>
              </a:ext>
            </a:extLst>
          </p:cNvPr>
          <p:cNvSpPr>
            <a:spLocks noGrp="1"/>
          </p:cNvSpPr>
          <p:nvPr/>
        </p:nvSpPr>
        <p:spPr>
          <a:xfrm>
            <a:off x="8134350" y="4248150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Local refusal · no image API call</a:t>
            </a:r>
          </a:p>
        </p:txBody>
      </p:sp>
      <p:sp>
        <p:nvSpPr>
          <p:cNvPr id="23" name="boundary">
            <a:extLst>
              <a:ext uri="{FF2B5EF4-FFF2-40B4-BE49-F238E27FC236}">
                <a16:creationId xmlns:a16="http://schemas.microsoft.com/office/drawing/2014/main" id="{33A09060-C6AE-46F2-969E-482DBF8BFB32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5727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00" b="0" i="1">
                <a:solidFill>
                  <a:srgbClr val="2145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1">
                <a:solidFill>
                  <a:srgbClr val="214560"/>
                </a:solidFill>
                <a:latin typeface="Helvetica Neue"/>
                <a:ea typeface="Helvetica Neue"/>
                <a:cs typeface="Helvetica Neue"/>
              </a:rPr>
              <a:t>OpenRouter may explain visible features; local code decides whether an ID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237026777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872DFC1F-962E-4FD2-896A-0554B6188852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Case A — Catalog match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0B198B1-7373-4429-904C-0BE0104A706E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The uploaded shoe is in the searchable gallery.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8161B28B-165D-4B19-9C77-924A06163E97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D376B3D5-B7B1-4584-BE8C-BC672D58E6D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5 / 7</a:t>
            </a:r>
          </a:p>
        </p:txBody>
      </p:sp>
      <p:sp>
        <p:nvSpPr>
          <p:cNvPr id="5" name="case-area">
            <a:extLst>
              <a:ext uri="{FF2B5EF4-FFF2-40B4-BE49-F238E27FC236}">
                <a16:creationId xmlns:a16="http://schemas.microsoft.com/office/drawing/2014/main" id="{9946505A-C8F3-4802-AB70-E26B505AB66E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34750" cy="4095750"/>
          </a:xfrm>
          <a:prstGeom prst="roundRect">
            <a:avLst>
              <a:gd name="adj" fmla="val 1860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se-strip">
            <a:extLst>
              <a:ext uri="{FF2B5EF4-FFF2-40B4-BE49-F238E27FC236}">
                <a16:creationId xmlns:a16="http://schemas.microsoft.com/office/drawing/2014/main" id="{B9E0030C-CF51-4D16-8904-1E9ED80995B1}"/>
              </a:ext>
            </a:extLst>
          </p:cNvPr>
          <p:cNvSpPr>
            <a:spLocks noGrp="1"/>
          </p:cNvSpPr>
          <p:nvPr/>
        </p:nvSpPr>
        <p:spPr>
          <a:xfrm>
            <a:off x="409575" y="1809750"/>
            <a:ext cx="4714875" cy="4095750"/>
          </a:xfrm>
          <a:prstGeom prst="roundRect">
            <a:avLst>
              <a:gd name="adj" fmla="val 1860"/>
            </a:avLst>
          </a:prstGeom>
          <a:solidFill>
            <a:srgbClr val="E5EF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se-letter">
            <a:extLst>
              <a:ext uri="{FF2B5EF4-FFF2-40B4-BE49-F238E27FC236}">
                <a16:creationId xmlns:a16="http://schemas.microsoft.com/office/drawing/2014/main" id="{41642DDE-6CBA-4BCD-AD18-CE56A5902405}"/>
              </a:ext>
            </a:extLst>
          </p:cNvPr>
          <p:cNvSpPr>
            <a:spLocks noGrp="1"/>
          </p:cNvSpPr>
          <p:nvPr/>
        </p:nvSpPr>
        <p:spPr>
          <a:xfrm>
            <a:off x="809625" y="2038350"/>
            <a:ext cx="371475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374"/>
          </a:bodyPr>
          <a:lstStyle/>
          <a:p>
            <a:pPr>
              <a:defRPr sz="18375" b="1" i="0">
                <a:solidFill>
                  <a:srgbClr val="4F9D95"/>
                </a:solidFill>
                <a:latin typeface="Georgia"/>
                <a:ea typeface="Georgia"/>
                <a:cs typeface="Georgia"/>
              </a:defRPr>
            </a:pPr>
            <a:r>
              <a:rPr sz="18375" b="1" i="0">
                <a:solidFill>
                  <a:srgbClr val="4F9D95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8" name="filename-label">
            <a:extLst>
              <a:ext uri="{FF2B5EF4-FFF2-40B4-BE49-F238E27FC236}">
                <a16:creationId xmlns:a16="http://schemas.microsoft.com/office/drawing/2014/main" id="{2020D855-389A-4307-8865-F5F43D68981D}"/>
              </a:ext>
            </a:extLst>
          </p:cNvPr>
          <p:cNvSpPr>
            <a:spLocks noGrp="1"/>
          </p:cNvSpPr>
          <p:nvPr/>
        </p:nvSpPr>
        <p:spPr>
          <a:xfrm>
            <a:off x="5448300" y="2162175"/>
            <a:ext cx="2476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74"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9" name="filename">
            <a:extLst>
              <a:ext uri="{FF2B5EF4-FFF2-40B4-BE49-F238E27FC236}">
                <a16:creationId xmlns:a16="http://schemas.microsoft.com/office/drawing/2014/main" id="{238508F1-0055-48F4-8132-7721705E65EE}"/>
              </a:ext>
            </a:extLst>
          </p:cNvPr>
          <p:cNvSpPr>
            <a:spLocks noGrp="1"/>
          </p:cNvSpPr>
          <p:nvPr/>
        </p:nvSpPr>
        <p:spPr>
          <a:xfrm>
            <a:off x="5448300" y="2552700"/>
            <a:ext cx="5334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69" lnSpcReduction="10000"/>
          </a:bodyPr>
          <a:lstStyle/>
          <a:p>
            <a:pPr>
              <a:def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A_q029.jpg</a:t>
            </a:r>
          </a:p>
        </p:txBody>
      </p:sp>
      <p:sp>
        <p:nvSpPr>
          <p:cNvPr id="10" name="case-rule">
            <a:extLst>
              <a:ext uri="{FF2B5EF4-FFF2-40B4-BE49-F238E27FC236}">
                <a16:creationId xmlns:a16="http://schemas.microsoft.com/office/drawing/2014/main" id="{69D8DF52-59E6-41C4-992C-4385D9FB5836}"/>
              </a:ext>
            </a:extLst>
          </p:cNvPr>
          <p:cNvSpPr>
            <a:spLocks noGrp="1"/>
          </p:cNvSpPr>
          <p:nvPr/>
        </p:nvSpPr>
        <p:spPr>
          <a:xfrm>
            <a:off x="5448300" y="3276600"/>
            <a:ext cx="5753100" cy="28575"/>
          </a:xfrm>
          <a:prstGeom prst="rect">
            <a:avLst/>
          </a:prstGeom>
          <a:solidFill>
            <a:srgbClr val="C8D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ision-label">
            <a:extLst>
              <a:ext uri="{FF2B5EF4-FFF2-40B4-BE49-F238E27FC236}">
                <a16:creationId xmlns:a16="http://schemas.microsoft.com/office/drawing/2014/main" id="{EDAF8E93-EF99-4CCD-B665-F38DD461F365}"/>
              </a:ext>
            </a:extLst>
          </p:cNvPr>
          <p:cNvSpPr>
            <a:spLocks noGrp="1"/>
          </p:cNvSpPr>
          <p:nvPr/>
        </p:nvSpPr>
        <p:spPr>
          <a:xfrm>
            <a:off x="5448300" y="35718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EXPECTED RESULT</a:t>
            </a:r>
          </a:p>
        </p:txBody>
      </p:sp>
      <p:sp>
        <p:nvSpPr>
          <p:cNvPr id="12" name="decision">
            <a:extLst>
              <a:ext uri="{FF2B5EF4-FFF2-40B4-BE49-F238E27FC236}">
                <a16:creationId xmlns:a16="http://schemas.microsoft.com/office/drawing/2014/main" id="{153D8D04-0127-427C-AE41-D08734D997EE}"/>
              </a:ext>
            </a:extLst>
          </p:cNvPr>
          <p:cNvSpPr>
            <a:spLocks noGrp="1"/>
          </p:cNvSpPr>
          <p:nvPr/>
        </p:nvSpPr>
        <p:spPr>
          <a:xfrm>
            <a:off x="5448300" y="4000500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Accepted · source #40291</a:t>
            </a:r>
          </a:p>
        </p:txBody>
      </p:sp>
      <p:sp>
        <p:nvSpPr>
          <p:cNvPr id="13" name="focus">
            <a:extLst>
              <a:ext uri="{FF2B5EF4-FFF2-40B4-BE49-F238E27FC236}">
                <a16:creationId xmlns:a16="http://schemas.microsoft.com/office/drawing/2014/main" id="{4D3B7895-E8F9-4CA8-BB1A-981D5884427B}"/>
              </a:ext>
            </a:extLst>
          </p:cNvPr>
          <p:cNvSpPr>
            <a:spLocks noGrp="1"/>
          </p:cNvSpPr>
          <p:nvPr/>
        </p:nvSpPr>
        <p:spPr>
          <a:xfrm>
            <a:off x="5448300" y="4857750"/>
            <a:ext cx="57626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rPr>
              <a:t>Show the source image, record ID and supported catalog fields.</a:t>
            </a:r>
          </a:p>
        </p:txBody>
      </p:sp>
    </p:spTree>
    <p:extLst>
      <p:ext uri="{BB962C8B-B14F-4D97-AF65-F5344CB8AC3E}">
        <p14:creationId xmlns:p14="http://schemas.microsoft.com/office/powerpoint/2010/main" val="715251030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4E1A22FC-3A2F-4E5E-AAD9-A1E709541D84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Case B — Uncertain shoe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FD9BAFC-0580-4D6E-A8F3-AFED73B9D963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A visually similar shoe is outside the gallery.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B30D8611-C8E1-4760-9CF7-FDCEF01B9AAD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7127D7BD-AAF0-4894-A3CF-E8E6732FF05C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6 / 7</a:t>
            </a:r>
          </a:p>
        </p:txBody>
      </p:sp>
      <p:sp>
        <p:nvSpPr>
          <p:cNvPr id="5" name="case-area">
            <a:extLst>
              <a:ext uri="{FF2B5EF4-FFF2-40B4-BE49-F238E27FC236}">
                <a16:creationId xmlns:a16="http://schemas.microsoft.com/office/drawing/2014/main" id="{7E3E45CB-1FF2-43A5-9B58-FC39FB5BD436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34750" cy="4095750"/>
          </a:xfrm>
          <a:prstGeom prst="roundRect">
            <a:avLst>
              <a:gd name="adj" fmla="val 1860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se-strip">
            <a:extLst>
              <a:ext uri="{FF2B5EF4-FFF2-40B4-BE49-F238E27FC236}">
                <a16:creationId xmlns:a16="http://schemas.microsoft.com/office/drawing/2014/main" id="{B3FD0907-2B08-462B-BC9B-5E6022FC2A62}"/>
              </a:ext>
            </a:extLst>
          </p:cNvPr>
          <p:cNvSpPr>
            <a:spLocks noGrp="1"/>
          </p:cNvSpPr>
          <p:nvPr/>
        </p:nvSpPr>
        <p:spPr>
          <a:xfrm>
            <a:off x="409575" y="1809750"/>
            <a:ext cx="4714875" cy="4095750"/>
          </a:xfrm>
          <a:prstGeom prst="roundRect">
            <a:avLst>
              <a:gd name="adj" fmla="val 1860"/>
            </a:avLst>
          </a:prstGeom>
          <a:solidFill>
            <a:srgbClr val="E5EF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se-letter">
            <a:extLst>
              <a:ext uri="{FF2B5EF4-FFF2-40B4-BE49-F238E27FC236}">
                <a16:creationId xmlns:a16="http://schemas.microsoft.com/office/drawing/2014/main" id="{D3DF04ED-BCFE-42CB-920B-2F44634EB5D6}"/>
              </a:ext>
            </a:extLst>
          </p:cNvPr>
          <p:cNvSpPr>
            <a:spLocks noGrp="1"/>
          </p:cNvSpPr>
          <p:nvPr/>
        </p:nvSpPr>
        <p:spPr>
          <a:xfrm>
            <a:off x="809625" y="2038350"/>
            <a:ext cx="371475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374"/>
          </a:bodyPr>
          <a:lstStyle/>
          <a:p>
            <a:pPr>
              <a:defRPr sz="18375" b="1" i="0">
                <a:solidFill>
                  <a:srgbClr val="B58A54"/>
                </a:solidFill>
                <a:latin typeface="Georgia"/>
                <a:ea typeface="Georgia"/>
                <a:cs typeface="Georgia"/>
              </a:defRPr>
            </a:pPr>
            <a:r>
              <a:rPr sz="18375" b="1" i="0">
                <a:solidFill>
                  <a:srgbClr val="B58A54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8" name="filename-label">
            <a:extLst>
              <a:ext uri="{FF2B5EF4-FFF2-40B4-BE49-F238E27FC236}">
                <a16:creationId xmlns:a16="http://schemas.microsoft.com/office/drawing/2014/main" id="{32F2AFB2-87C3-4284-A312-33F5337A4E77}"/>
              </a:ext>
            </a:extLst>
          </p:cNvPr>
          <p:cNvSpPr>
            <a:spLocks noGrp="1"/>
          </p:cNvSpPr>
          <p:nvPr/>
        </p:nvSpPr>
        <p:spPr>
          <a:xfrm>
            <a:off x="5448300" y="2162175"/>
            <a:ext cx="2476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74"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9" name="filename">
            <a:extLst>
              <a:ext uri="{FF2B5EF4-FFF2-40B4-BE49-F238E27FC236}">
                <a16:creationId xmlns:a16="http://schemas.microsoft.com/office/drawing/2014/main" id="{6F640AA0-0803-4662-990C-5408242E665B}"/>
              </a:ext>
            </a:extLst>
          </p:cNvPr>
          <p:cNvSpPr>
            <a:spLocks noGrp="1"/>
          </p:cNvSpPr>
          <p:nvPr/>
        </p:nvSpPr>
        <p:spPr>
          <a:xfrm>
            <a:off x="5448300" y="2552700"/>
            <a:ext cx="5334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69" lnSpcReduction="10000"/>
          </a:bodyPr>
          <a:lstStyle/>
          <a:p>
            <a:pPr>
              <a:def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B_q077.jpg</a:t>
            </a:r>
          </a:p>
        </p:txBody>
      </p:sp>
      <p:sp>
        <p:nvSpPr>
          <p:cNvPr id="10" name="case-rule">
            <a:extLst>
              <a:ext uri="{FF2B5EF4-FFF2-40B4-BE49-F238E27FC236}">
                <a16:creationId xmlns:a16="http://schemas.microsoft.com/office/drawing/2014/main" id="{811096A5-4E51-485E-8AFE-D9202AB008E5}"/>
              </a:ext>
            </a:extLst>
          </p:cNvPr>
          <p:cNvSpPr>
            <a:spLocks noGrp="1"/>
          </p:cNvSpPr>
          <p:nvPr/>
        </p:nvSpPr>
        <p:spPr>
          <a:xfrm>
            <a:off x="5448300" y="3276600"/>
            <a:ext cx="5753100" cy="28575"/>
          </a:xfrm>
          <a:prstGeom prst="rect">
            <a:avLst/>
          </a:prstGeom>
          <a:solidFill>
            <a:srgbClr val="C8D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ision-label">
            <a:extLst>
              <a:ext uri="{FF2B5EF4-FFF2-40B4-BE49-F238E27FC236}">
                <a16:creationId xmlns:a16="http://schemas.microsoft.com/office/drawing/2014/main" id="{387EF44C-5494-409B-8759-B1F43FC357A2}"/>
              </a:ext>
            </a:extLst>
          </p:cNvPr>
          <p:cNvSpPr>
            <a:spLocks noGrp="1"/>
          </p:cNvSpPr>
          <p:nvPr/>
        </p:nvSpPr>
        <p:spPr>
          <a:xfrm>
            <a:off x="5448300" y="35718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EXPECTED RESULT</a:t>
            </a:r>
          </a:p>
        </p:txBody>
      </p:sp>
      <p:sp>
        <p:nvSpPr>
          <p:cNvPr id="12" name="decision">
            <a:extLst>
              <a:ext uri="{FF2B5EF4-FFF2-40B4-BE49-F238E27FC236}">
                <a16:creationId xmlns:a16="http://schemas.microsoft.com/office/drawing/2014/main" id="{60871A7F-E05E-4EFD-8C08-4AEB082CA16F}"/>
              </a:ext>
            </a:extLst>
          </p:cNvPr>
          <p:cNvSpPr>
            <a:spLocks noGrp="1"/>
          </p:cNvSpPr>
          <p:nvPr/>
        </p:nvSpPr>
        <p:spPr>
          <a:xfrm>
            <a:off x="5448300" y="4000500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Product identity withheld</a:t>
            </a:r>
          </a:p>
        </p:txBody>
      </p:sp>
      <p:sp>
        <p:nvSpPr>
          <p:cNvPr id="13" name="focus">
            <a:extLst>
              <a:ext uri="{FF2B5EF4-FFF2-40B4-BE49-F238E27FC236}">
                <a16:creationId xmlns:a16="http://schemas.microsoft.com/office/drawing/2014/main" id="{3CE7B19C-E0BA-46F3-A338-C36E29B0A969}"/>
              </a:ext>
            </a:extLst>
          </p:cNvPr>
          <p:cNvSpPr>
            <a:spLocks noGrp="1"/>
          </p:cNvSpPr>
          <p:nvPr/>
        </p:nvSpPr>
        <p:spPr>
          <a:xfrm>
            <a:off x="5448300" y="4857750"/>
            <a:ext cx="57626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rPr>
              <a:t>Show alternatives as possibilities. The API description, if available, describes only the photo.</a:t>
            </a:r>
          </a:p>
        </p:txBody>
      </p:sp>
    </p:spTree>
    <p:extLst>
      <p:ext uri="{BB962C8B-B14F-4D97-AF65-F5344CB8AC3E}">
        <p14:creationId xmlns:p14="http://schemas.microsoft.com/office/powerpoint/2010/main" val="808076710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0FFE0631-B365-4C54-8654-9A11AC42AFE5}"/>
              </a:ext>
            </a:extLst>
          </p:cNvPr>
          <p:cNvSpPr>
            <a:spLocks noGrp="1"/>
          </p:cNvSpPr>
          <p:nvPr/>
        </p:nvSpPr>
        <p:spPr>
          <a:xfrm>
            <a:off x="476250" y="342900"/>
            <a:ext cx="11191875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3375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Case C — Non-footwear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751CD1E-09D6-4BB9-8243-8CCE006A0A97}"/>
              </a:ext>
            </a:extLst>
          </p:cNvPr>
          <p:cNvSpPr>
            <a:spLocks noGrp="1"/>
          </p:cNvSpPr>
          <p:nvPr/>
        </p:nvSpPr>
        <p:spPr>
          <a:xfrm>
            <a:off x="495300" y="1057275"/>
            <a:ext cx="110490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1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The uploaded image should not produce a shoe result.</a:t>
            </a:r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A2B025FF-6E1A-46BB-89A6-4CFE171E48DA}"/>
              </a:ext>
            </a:extLst>
          </p:cNvPr>
          <p:cNvSpPr>
            <a:spLocks noGrp="1"/>
          </p:cNvSpPr>
          <p:nvPr/>
        </p:nvSpPr>
        <p:spPr>
          <a:xfrm>
            <a:off x="457200" y="6457950"/>
            <a:ext cx="447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ShoeLens  ·  PE6201</a:t>
            </a:r>
          </a:p>
        </p:txBody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44445C80-0AC3-4FAC-9FFF-2E8351314310}"/>
              </a:ext>
            </a:extLst>
          </p:cNvPr>
          <p:cNvSpPr>
            <a:spLocks noGrp="1"/>
          </p:cNvSpPr>
          <p:nvPr/>
        </p:nvSpPr>
        <p:spPr>
          <a:xfrm>
            <a:off x="11049000" y="64579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214" lnSpcReduction="10000"/>
          </a:bodyPr>
          <a:lstStyle/>
          <a:p>
            <a:pPr>
              <a:def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D7F89"/>
                </a:solidFill>
                <a:latin typeface="Helvetica Neue"/>
                <a:ea typeface="Helvetica Neue"/>
                <a:cs typeface="Helvetica Neue"/>
              </a:rPr>
              <a:t>7 / 7</a:t>
            </a:r>
          </a:p>
        </p:txBody>
      </p:sp>
      <p:sp>
        <p:nvSpPr>
          <p:cNvPr id="5" name="case-area">
            <a:extLst>
              <a:ext uri="{FF2B5EF4-FFF2-40B4-BE49-F238E27FC236}">
                <a16:creationId xmlns:a16="http://schemas.microsoft.com/office/drawing/2014/main" id="{89AD3B36-A768-4D76-AA89-730ACC254D0E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11334750" cy="4095750"/>
          </a:xfrm>
          <a:prstGeom prst="roundRect">
            <a:avLst>
              <a:gd name="adj" fmla="val 1860"/>
            </a:avLst>
          </a:prstGeom>
          <a:solidFill>
            <a:srgbClr val="EDF4F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case-strip">
            <a:extLst>
              <a:ext uri="{FF2B5EF4-FFF2-40B4-BE49-F238E27FC236}">
                <a16:creationId xmlns:a16="http://schemas.microsoft.com/office/drawing/2014/main" id="{6F72311D-C080-4720-9E4A-54AFCA1FA635}"/>
              </a:ext>
            </a:extLst>
          </p:cNvPr>
          <p:cNvSpPr>
            <a:spLocks noGrp="1"/>
          </p:cNvSpPr>
          <p:nvPr/>
        </p:nvSpPr>
        <p:spPr>
          <a:xfrm>
            <a:off x="409575" y="1809750"/>
            <a:ext cx="4714875" cy="4095750"/>
          </a:xfrm>
          <a:prstGeom prst="roundRect">
            <a:avLst>
              <a:gd name="adj" fmla="val 1860"/>
            </a:avLst>
          </a:prstGeom>
          <a:solidFill>
            <a:srgbClr val="E5EF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se-letter">
            <a:extLst>
              <a:ext uri="{FF2B5EF4-FFF2-40B4-BE49-F238E27FC236}">
                <a16:creationId xmlns:a16="http://schemas.microsoft.com/office/drawing/2014/main" id="{D8F4A246-D967-4AD8-9C16-7AA2708BBF7D}"/>
              </a:ext>
            </a:extLst>
          </p:cNvPr>
          <p:cNvSpPr>
            <a:spLocks noGrp="1"/>
          </p:cNvSpPr>
          <p:nvPr/>
        </p:nvSpPr>
        <p:spPr>
          <a:xfrm>
            <a:off x="809625" y="2038350"/>
            <a:ext cx="3714750" cy="2762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374"/>
          </a:bodyPr>
          <a:lstStyle/>
          <a:p>
            <a:pPr>
              <a:defRPr sz="18375" b="1" i="0">
                <a:solidFill>
                  <a:srgbClr val="3D7EA0"/>
                </a:solidFill>
                <a:latin typeface="Georgia"/>
                <a:ea typeface="Georgia"/>
                <a:cs typeface="Georgia"/>
              </a:defRPr>
            </a:pPr>
            <a:r>
              <a:rPr sz="18375" b="1" i="0">
                <a:solidFill>
                  <a:srgbClr val="3D7EA0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8" name="filename-label">
            <a:extLst>
              <a:ext uri="{FF2B5EF4-FFF2-40B4-BE49-F238E27FC236}">
                <a16:creationId xmlns:a16="http://schemas.microsoft.com/office/drawing/2014/main" id="{B7BD27EC-B103-4C1F-BF8C-C297B3E89FC6}"/>
              </a:ext>
            </a:extLst>
          </p:cNvPr>
          <p:cNvSpPr>
            <a:spLocks noGrp="1"/>
          </p:cNvSpPr>
          <p:nvPr/>
        </p:nvSpPr>
        <p:spPr>
          <a:xfrm>
            <a:off x="5448300" y="2162175"/>
            <a:ext cx="2476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074"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UPLOAD</a:t>
            </a:r>
          </a:p>
        </p:txBody>
      </p:sp>
      <p:sp>
        <p:nvSpPr>
          <p:cNvPr id="9" name="filename">
            <a:extLst>
              <a:ext uri="{FF2B5EF4-FFF2-40B4-BE49-F238E27FC236}">
                <a16:creationId xmlns:a16="http://schemas.microsoft.com/office/drawing/2014/main" id="{E10DF5F4-EA60-4A89-BC57-37644720C503}"/>
              </a:ext>
            </a:extLst>
          </p:cNvPr>
          <p:cNvSpPr>
            <a:spLocks noGrp="1"/>
          </p:cNvSpPr>
          <p:nvPr/>
        </p:nvSpPr>
        <p:spPr>
          <a:xfrm>
            <a:off x="5448300" y="2552700"/>
            <a:ext cx="533400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569" lnSpcReduction="10000"/>
          </a:bodyPr>
          <a:lstStyle/>
          <a:p>
            <a:pPr>
              <a:def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C_q092.jpg</a:t>
            </a:r>
          </a:p>
        </p:txBody>
      </p:sp>
      <p:sp>
        <p:nvSpPr>
          <p:cNvPr id="10" name="case-rule">
            <a:extLst>
              <a:ext uri="{FF2B5EF4-FFF2-40B4-BE49-F238E27FC236}">
                <a16:creationId xmlns:a16="http://schemas.microsoft.com/office/drawing/2014/main" id="{EB5687C3-0CF1-4BD6-9527-E637F52A9FDA}"/>
              </a:ext>
            </a:extLst>
          </p:cNvPr>
          <p:cNvSpPr>
            <a:spLocks noGrp="1"/>
          </p:cNvSpPr>
          <p:nvPr/>
        </p:nvSpPr>
        <p:spPr>
          <a:xfrm>
            <a:off x="5448300" y="3276600"/>
            <a:ext cx="5753100" cy="28575"/>
          </a:xfrm>
          <a:prstGeom prst="rect">
            <a:avLst/>
          </a:prstGeom>
          <a:solidFill>
            <a:srgbClr val="C8DC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decision-label">
            <a:extLst>
              <a:ext uri="{FF2B5EF4-FFF2-40B4-BE49-F238E27FC236}">
                <a16:creationId xmlns:a16="http://schemas.microsoft.com/office/drawing/2014/main" id="{9C9A7E22-DDE7-44A0-B5B4-B90BC62EAFC6}"/>
              </a:ext>
            </a:extLst>
          </p:cNvPr>
          <p:cNvSpPr>
            <a:spLocks noGrp="1"/>
          </p:cNvSpPr>
          <p:nvPr/>
        </p:nvSpPr>
        <p:spPr>
          <a:xfrm>
            <a:off x="5448300" y="3571875"/>
            <a:ext cx="3619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6E98AA"/>
                </a:solidFill>
                <a:latin typeface="Helvetica Neue"/>
                <a:ea typeface="Helvetica Neue"/>
                <a:cs typeface="Helvetica Neue"/>
              </a:rPr>
              <a:t>EXPECTED RESULT</a:t>
            </a:r>
          </a:p>
        </p:txBody>
      </p:sp>
      <p:sp>
        <p:nvSpPr>
          <p:cNvPr id="12" name="decision">
            <a:extLst>
              <a:ext uri="{FF2B5EF4-FFF2-40B4-BE49-F238E27FC236}">
                <a16:creationId xmlns:a16="http://schemas.microsoft.com/office/drawing/2014/main" id="{C08CF84B-A7E1-4ED6-AF66-9FA38938C964}"/>
              </a:ext>
            </a:extLst>
          </p:cNvPr>
          <p:cNvSpPr>
            <a:spLocks noGrp="1"/>
          </p:cNvSpPr>
          <p:nvPr/>
        </p:nvSpPr>
        <p:spPr>
          <a:xfrm>
            <a:off x="5448300" y="4000500"/>
            <a:ext cx="5810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defRPr>
            </a:pPr>
            <a:r>
              <a:rPr sz="2400" b="1" i="0">
                <a:solidFill>
                  <a:srgbClr val="214560"/>
                </a:solidFill>
                <a:latin typeface="Georgia"/>
                <a:ea typeface="Georgia"/>
                <a:cs typeface="Georgia"/>
              </a:rPr>
              <a:t>Rejected locally</a:t>
            </a:r>
          </a:p>
        </p:txBody>
      </p:sp>
      <p:sp>
        <p:nvSpPr>
          <p:cNvPr id="13" name="focus">
            <a:extLst>
              <a:ext uri="{FF2B5EF4-FFF2-40B4-BE49-F238E27FC236}">
                <a16:creationId xmlns:a16="http://schemas.microsoft.com/office/drawing/2014/main" id="{46FE272C-D18E-426E-9643-579780884C7C}"/>
              </a:ext>
            </a:extLst>
          </p:cNvPr>
          <p:cNvSpPr>
            <a:spLocks noGrp="1"/>
          </p:cNvSpPr>
          <p:nvPr/>
        </p:nvSpPr>
        <p:spPr>
          <a:xfrm>
            <a:off x="5448300" y="4857750"/>
            <a:ext cx="57626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283B49"/>
                </a:solidFill>
                <a:latin typeface="Helvetica Neue"/>
                <a:ea typeface="Helvetica Neue"/>
                <a:cs typeface="Helvetica Neue"/>
              </a:rPr>
              <a:t>Show no shoe candidates and no remote image description.</a:t>
            </a:r>
          </a:p>
        </p:txBody>
      </p:sp>
    </p:spTree>
    <p:extLst>
      <p:ext uri="{BB962C8B-B14F-4D97-AF65-F5344CB8AC3E}">
        <p14:creationId xmlns:p14="http://schemas.microsoft.com/office/powerpoint/2010/main" val="156119924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Macintosh PowerPoint</Application>
  <DocSecurity>0</DocSecurity>
  <PresentationFormat>Widescreen</PresentationFormat>
  <Paragraphs>88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Georgia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#FAN YANXI#</cp:lastModifiedBy>
  <cp:revision>1</cp:revision>
  <dcterms:created xsi:type="dcterms:W3CDTF">2026-10-04T05:29:36Z</dcterms:created>
  <dcterms:modified xsi:type="dcterms:W3CDTF">2026-10-04T06:04:57Z</dcterms:modified>
</cp:coreProperties>
</file>